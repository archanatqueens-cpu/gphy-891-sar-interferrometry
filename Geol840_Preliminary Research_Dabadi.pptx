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6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00" d="100"/>
          <a:sy n="100" d="100"/>
        </p:scale>
        <p:origin x="2544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E4412-D67E-F3B0-DAFC-E3D05B3E68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92B0B3-4A95-29E6-C747-ED6EC90B3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94EBD-EB35-E322-6B9D-895A36869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D163A-A224-4124-8948-3D42D436CA6C}" type="datetimeFigureOut">
              <a:rPr lang="en-CA" smtClean="0"/>
              <a:t>2026-09-25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7E32A-989C-EE4C-96A8-460D1A159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F329B-1F07-F821-D029-BFD946CD4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78336-E416-4515-8918-B5D0EB0451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35516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CE2B7-9A88-8E3D-2D62-68421520B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7578B-158B-A755-1A13-7F739F394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66587-3DF7-9F6F-1BE7-935B38905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D163A-A224-4124-8948-3D42D436CA6C}" type="datetimeFigureOut">
              <a:rPr lang="en-CA" smtClean="0"/>
              <a:t>2026-09-25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97972-2ECD-B661-0C15-1D00437A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5039D-B970-C355-3384-F42F1752D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78336-E416-4515-8918-B5D0EB0451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735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C781B-1B76-BDAE-7A0B-20B5DBF43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25486-92F8-FFB3-2A7C-C36DAF8BE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ED7C0-B453-CD65-D7E0-381DE42B9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D163A-A224-4124-8948-3D42D436CA6C}" type="datetimeFigureOut">
              <a:rPr lang="en-CA" smtClean="0"/>
              <a:t>2026-09-25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55DBD-4B7B-93F3-0662-C43654F77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C204C-3A54-B3EF-2561-9DDF51F9C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78336-E416-4515-8918-B5D0EB0451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9778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BC9FB-984C-819D-25F1-34B43C15D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493F3-1F59-38F6-405D-34591F62D7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9A023-52E7-4C4F-EB10-718EEE677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D10D4-2186-EB29-1305-DE98E90D4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D163A-A224-4124-8948-3D42D436CA6C}" type="datetimeFigureOut">
              <a:rPr lang="en-CA" smtClean="0"/>
              <a:t>2026-09-25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898A6D-2A04-23F3-4F10-262AE916C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115876-5424-C9AC-37BF-095CA4685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78336-E416-4515-8918-B5D0EB0451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5132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1E528-D12F-A371-B4AF-3C75C58D2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54AAD-6159-44F1-8E4A-3A12C89DD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3A7DE3-7BB5-F352-778B-93F79D8FE6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5CBCC5-4440-9F5A-743D-81D29B645D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6A843-AD99-4091-165D-33EE842B07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1B4F5E-B2B5-FC8B-C43C-81AE12CF7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D163A-A224-4124-8948-3D42D436CA6C}" type="datetimeFigureOut">
              <a:rPr lang="en-CA" smtClean="0"/>
              <a:t>2026-09-25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39C5A2-C90A-719E-8C43-5466ABA01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1AF36-8283-7135-E5BC-9A7AD583C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78336-E416-4515-8918-B5D0EB0451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4698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0761F-E49B-15B8-D288-6887F020D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7AF353-3098-CCE2-2C29-A948B619C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D163A-A224-4124-8948-3D42D436CA6C}" type="datetimeFigureOut">
              <a:rPr lang="en-CA" smtClean="0"/>
              <a:t>2026-09-25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CC97D7-DDEC-2207-8190-7AB58A29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A83CF8-8F18-1F5E-C8BA-2ED6C1196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78336-E416-4515-8918-B5D0EB0451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6602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DBF7C2-605C-93A8-1C74-25EC40A9A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D163A-A224-4124-8948-3D42D436CA6C}" type="datetimeFigureOut">
              <a:rPr lang="en-CA" smtClean="0"/>
              <a:t>2026-09-25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516B58-687E-5B79-6A03-B3D0F8885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BC843-FE04-A3D8-0896-66EF56C3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78336-E416-4515-8918-B5D0EB0451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235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5A3D5-2F92-F6C7-07CE-56C33EBC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7C550-DA56-9582-4076-8E41DA237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C5DDA9-D229-C8A9-6A0A-3FB471AFFB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3FCC4-74CE-9894-023A-F06670DF1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D163A-A224-4124-8948-3D42D436CA6C}" type="datetimeFigureOut">
              <a:rPr lang="en-CA" smtClean="0"/>
              <a:t>2026-09-25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5935A-D855-4C9B-2D2E-4A71AB7DC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8F0B1-369C-B531-8F5F-811F094AA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78336-E416-4515-8918-B5D0EB0451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0798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62334-05E4-24DD-B0FF-7F718A388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C575DD-B6AB-68F0-2D55-9BB59E774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A3894B-E6DA-6033-D50B-DC93A5ED7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804254-442B-1ED8-77D9-01CD1E36D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D163A-A224-4124-8948-3D42D436CA6C}" type="datetimeFigureOut">
              <a:rPr lang="en-CA" smtClean="0"/>
              <a:t>2026-09-25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A1B84C-71B0-CEA5-20DE-002D01619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D110CA-A7E1-4133-4334-F9A9663D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78336-E416-4515-8918-B5D0EB0451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2689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18621-9D63-F15F-94A3-9FB7A5DB3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845967-5CDA-F65B-6413-03A313E47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1BC98-DF7A-7F50-60FE-0084BD6F6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D163A-A224-4124-8948-3D42D436CA6C}" type="datetimeFigureOut">
              <a:rPr lang="en-CA" smtClean="0"/>
              <a:t>2026-09-25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44595-88FB-5F63-A78B-1E8D1C1E1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E2CA6-8A25-CBF3-2510-0BF5331DB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78336-E416-4515-8918-B5D0EB0451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681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B3A1E8-9DBD-A813-CEBF-17580C2978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59CE6-4AE8-7942-FB69-5625DA26A1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B2FF8-2D94-44F6-EB9A-0418832CE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D163A-A224-4124-8948-3D42D436CA6C}" type="datetimeFigureOut">
              <a:rPr lang="en-CA" smtClean="0"/>
              <a:t>2026-09-25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F2CDB-BC8D-C20C-58BD-4DBD0665E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80A75-1D34-0D61-F0D3-C532CE4FD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78336-E416-4515-8918-B5D0EB0451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2553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62B2A6-FA66-C8BA-4A0F-81E75347F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42AB2-DC37-5055-7F29-7C476EE66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F63A2-1663-694B-4594-8F85296ECA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1D163A-A224-4124-8948-3D42D436CA6C}" type="datetimeFigureOut">
              <a:rPr lang="en-CA" smtClean="0"/>
              <a:t>2026-09-25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26A64-D696-4548-A781-CAE8771061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0BD0E-051F-9F07-A7A0-9966A01863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478336-E416-4515-8918-B5D0EB0451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041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E64ACE3-3B21-3BF4-9B9B-6C432C5A91EF}"/>
              </a:ext>
            </a:extLst>
          </p:cNvPr>
          <p:cNvSpPr txBox="1"/>
          <p:nvPr/>
        </p:nvSpPr>
        <p:spPr>
          <a:xfrm>
            <a:off x="311150" y="223441"/>
            <a:ext cx="116205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dirty="0"/>
              <a:t>GEOL 840 — Satellite Detection of Algal Blooms -- WEEK 1 Update Sep 25</a:t>
            </a:r>
            <a:endParaRPr lang="en-CA" b="1" dirty="0"/>
          </a:p>
          <a:p>
            <a:r>
              <a:rPr lang="en-CA" sz="1200" b="1" dirty="0"/>
              <a:t>Research Objective</a:t>
            </a:r>
          </a:p>
          <a:p>
            <a:pPr lvl="0"/>
            <a:r>
              <a:rPr lang="en-CA" sz="1200" dirty="0"/>
              <a:t>Identify documented algal-bloom events in Severn Sound/Georgian Bay. </a:t>
            </a:r>
          </a:p>
          <a:p>
            <a:pPr lvl="0"/>
            <a:r>
              <a:rPr lang="en-CA" sz="1200" dirty="0"/>
              <a:t>Determine whether these events can be observed using freely available Sentinel-2 imagery. </a:t>
            </a:r>
          </a:p>
          <a:p>
            <a:pPr lvl="0"/>
            <a:r>
              <a:rPr lang="en-CA" sz="1200" dirty="0"/>
              <a:t>Assess which spectral indicators are useful and what limits satellite detection.</a:t>
            </a:r>
          </a:p>
          <a:p>
            <a:pPr lvl="0"/>
            <a:endParaRPr lang="en-CA" sz="1200" dirty="0"/>
          </a:p>
          <a:p>
            <a:pPr lvl="0"/>
            <a:r>
              <a:rPr lang="en-CA" sz="1200" b="1" dirty="0"/>
              <a:t>Approach: </a:t>
            </a:r>
            <a:r>
              <a:rPr lang="en-CA" sz="1200" dirty="0"/>
              <a:t>Documented bloom → Satellite imagery → Spectral indices → Ground-truth validation. </a:t>
            </a:r>
          </a:p>
          <a:p>
            <a:pPr lvl="0"/>
            <a:r>
              <a:rPr lang="en-CA" sz="1200" dirty="0"/>
              <a:t>Built a Google Earth Engine workflow using Sentinel-2.</a:t>
            </a:r>
          </a:p>
          <a:p>
            <a:pPr lvl="0"/>
            <a:r>
              <a:rPr lang="en-CA" sz="1200" dirty="0"/>
              <a:t>Applied water and brightness masks to reduce false signals.</a:t>
            </a:r>
          </a:p>
          <a:p>
            <a:r>
              <a:rPr lang="en-CA" sz="1200" dirty="0"/>
              <a:t>Manually screened imagery and selected only clear, usable dates. </a:t>
            </a:r>
            <a:r>
              <a:rPr lang="en-CA" sz="1200" i="0" u="none" strike="noStrike" dirty="0">
                <a:effectLst/>
                <a:latin typeface="Roboto" panose="02000000000000000000" pitchFamily="2" charset="0"/>
              </a:rPr>
              <a:t>2023-07-10 to 2023-09-03 (5 of 5) </a:t>
            </a:r>
            <a:endParaRPr lang="en-CA" sz="1200" dirty="0"/>
          </a:p>
          <a:p>
            <a:pPr lvl="0"/>
            <a:r>
              <a:rPr lang="en-CA" sz="1200" dirty="0"/>
              <a:t>Calculated multiple indices: NDCI (chlorophyll), </a:t>
            </a:r>
            <a:r>
              <a:rPr lang="en-CA" sz="1200" dirty="0" err="1"/>
              <a:t>CIcyano</a:t>
            </a:r>
            <a:r>
              <a:rPr lang="en-CA" sz="1200" dirty="0"/>
              <a:t> (cyanobacteria), FAI (floating algae), NDTI (turbidity), NDVI (biomass). </a:t>
            </a:r>
          </a:p>
          <a:p>
            <a:pPr lvl="0"/>
            <a:r>
              <a:rPr lang="en-CA" sz="1200" dirty="0"/>
              <a:t>Used multi-date median index mosaics and point-based comparisons.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7A26E2-9B7B-CE94-956A-63B2F257AF88}"/>
              </a:ext>
            </a:extLst>
          </p:cNvPr>
          <p:cNvSpPr txBox="1"/>
          <p:nvPr/>
        </p:nvSpPr>
        <p:spPr>
          <a:xfrm>
            <a:off x="311150" y="2624098"/>
            <a:ext cx="116205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/>
              <a:t>Midland 2023, Severn Sound: </a:t>
            </a:r>
          </a:p>
          <a:p>
            <a:r>
              <a:rPr lang="en-CA" sz="1200" dirty="0"/>
              <a:t>Focused on the documented Midland Bay/Severn Sound event. </a:t>
            </a:r>
          </a:p>
          <a:p>
            <a:r>
              <a:rPr lang="en-CA" sz="1200" dirty="0"/>
              <a:t>Identified 5 manually verified clear Sentinel-2 dates: July 10, August 9, August 19, August 29, September 3, 2023. </a:t>
            </a:r>
          </a:p>
          <a:p>
            <a:r>
              <a:rPr lang="en-CA" sz="1200" dirty="0"/>
              <a:t>Compared 3 Midland Bay locations with an open-basin reference point.</a:t>
            </a:r>
          </a:p>
          <a:p>
            <a:r>
              <a:rPr lang="en-CA" sz="1200" dirty="0"/>
              <a:t>Current results show a persistent difference between bay and open-basin NDCI values.</a:t>
            </a:r>
          </a:p>
          <a:p>
            <a:r>
              <a:rPr lang="en-CA" sz="1200" dirty="0"/>
              <a:t>The observed signal is weaker than the strong Baltic Sea reference bloom.</a:t>
            </a:r>
          </a:p>
          <a:p>
            <a:r>
              <a:rPr lang="en-CA" sz="1200" dirty="0"/>
              <a:t>Some apparent signals were identified as likely dark-water, shoreline, or atmospheric/cloud effects.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B49801-B350-1A39-032C-9DC113301868}"/>
              </a:ext>
            </a:extLst>
          </p:cNvPr>
          <p:cNvSpPr txBox="1"/>
          <p:nvPr/>
        </p:nvSpPr>
        <p:spPr>
          <a:xfrm>
            <a:off x="311151" y="4053774"/>
            <a:ext cx="116204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sz="1200" b="1" dirty="0"/>
              <a:t>Baltic Sea, Positive Reference</a:t>
            </a:r>
          </a:p>
          <a:p>
            <a:pPr lvl="0"/>
            <a:r>
              <a:rPr lang="en-CA" sz="1200" dirty="0"/>
              <a:t>Used a documented </a:t>
            </a:r>
            <a:r>
              <a:rPr lang="en-CA" sz="1200" b="1" dirty="0" err="1"/>
              <a:t>Nodularia</a:t>
            </a:r>
            <a:r>
              <a:rPr lang="en-CA" sz="1200" b="1" dirty="0"/>
              <a:t> </a:t>
            </a:r>
            <a:r>
              <a:rPr lang="en-CA" sz="1200" b="1" dirty="0" err="1"/>
              <a:t>spumigena</a:t>
            </a:r>
            <a:r>
              <a:rPr lang="en-CA" sz="1200" b="1" dirty="0"/>
              <a:t> bloom (August 2015)</a:t>
            </a:r>
            <a:r>
              <a:rPr lang="en-CA" sz="1200" dirty="0"/>
              <a:t> as a positive reference. </a:t>
            </a:r>
          </a:p>
          <a:p>
            <a:pPr lvl="0"/>
            <a:r>
              <a:rPr lang="en-CA" sz="1200" dirty="0"/>
              <a:t>Sentinel-2 produced a strong spectral response within a visible bloom filament. </a:t>
            </a:r>
          </a:p>
          <a:p>
            <a:pPr lvl="0"/>
            <a:r>
              <a:rPr lang="en-CA" sz="1200" dirty="0"/>
              <a:t>NDCI reached approximately </a:t>
            </a:r>
            <a:r>
              <a:rPr lang="en-CA" sz="1200" b="1" dirty="0"/>
              <a:t>0.31</a:t>
            </a:r>
            <a:r>
              <a:rPr lang="en-CA" sz="1200" dirty="0"/>
              <a:t> at a sampled bloom location. </a:t>
            </a:r>
          </a:p>
          <a:p>
            <a:pPr lvl="0"/>
            <a:r>
              <a:rPr lang="en-CA" sz="1200" dirty="0"/>
              <a:t>A nearby location outside the filament showed little/no comparable signal. </a:t>
            </a:r>
          </a:p>
          <a:p>
            <a:pPr lvl="0"/>
            <a:r>
              <a:rPr lang="en-CA" sz="1200" dirty="0"/>
              <a:t>Demonstrates the importance of </a:t>
            </a:r>
            <a:r>
              <a:rPr lang="en-CA" sz="1200" b="1" dirty="0"/>
              <a:t>spatially localized ground/reference observations</a:t>
            </a:r>
            <a:r>
              <a:rPr lang="en-CA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6127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26D83F0-18BD-6D4B-26E4-8785D903ED33}"/>
              </a:ext>
            </a:extLst>
          </p:cNvPr>
          <p:cNvSpPr txBox="1"/>
          <p:nvPr/>
        </p:nvSpPr>
        <p:spPr>
          <a:xfrm>
            <a:off x="552449" y="434965"/>
            <a:ext cx="1134427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sz="1200" b="1" dirty="0"/>
              <a:t>What I Have Learned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sz="1200" dirty="0"/>
              <a:t>Colour maps alone can exaggerate small differences.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sz="1200" b="1" dirty="0"/>
              <a:t>Multi-point numerical measurements</a:t>
            </a:r>
            <a:r>
              <a:rPr lang="en-CA" sz="1200" dirty="0"/>
              <a:t> are more reliable than visual interpretation alone.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sz="1200" dirty="0"/>
              <a:t>Dark, clear water can produce unstable ratio-index values.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sz="1200" dirty="0"/>
              <a:t>Cloud/cirrus contamination can create apparent biological signals.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sz="1200" dirty="0"/>
              <a:t>Shoreline effects can produce persistent FAI/NDVI patterns unrelated to an actual bloom.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sz="1200" dirty="0"/>
              <a:t>Satellite detection therefore requires </a:t>
            </a:r>
            <a:r>
              <a:rPr lang="en-CA" sz="1200" b="1" dirty="0"/>
              <a:t>careful image screening and independent validation</a:t>
            </a:r>
            <a:r>
              <a:rPr lang="en-CA" sz="12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D3124F-EB98-5002-31F2-A7C8B11A983C}"/>
              </a:ext>
            </a:extLst>
          </p:cNvPr>
          <p:cNvSpPr txBox="1"/>
          <p:nvPr/>
        </p:nvSpPr>
        <p:spPr>
          <a:xfrm>
            <a:off x="552449" y="1932444"/>
            <a:ext cx="11458574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sz="1200" b="1" dirty="0"/>
              <a:t>Next Week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sz="1200" b="1" dirty="0"/>
              <a:t>Literature review</a:t>
            </a:r>
            <a:r>
              <a:rPr lang="en-CA" sz="1200" dirty="0"/>
              <a:t> </a:t>
            </a:r>
          </a:p>
          <a:p>
            <a:pPr lvl="1"/>
            <a:r>
              <a:rPr lang="en-CA" sz="1200" dirty="0"/>
              <a:t>Verify published index formulations and thresholds. </a:t>
            </a:r>
          </a:p>
          <a:p>
            <a:pPr lvl="1"/>
            <a:r>
              <a:rPr lang="en-CA" sz="1200" dirty="0"/>
              <a:t>Establish how NDCI, </a:t>
            </a:r>
            <a:r>
              <a:rPr lang="en-CA" sz="1200" dirty="0" err="1"/>
              <a:t>CIcyano</a:t>
            </a:r>
            <a:r>
              <a:rPr lang="en-CA" sz="1200" dirty="0"/>
              <a:t>, FAI, NDTI and NDVI should be interpreted.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sz="1200" b="1" dirty="0"/>
              <a:t>Ground-truth data</a:t>
            </a:r>
            <a:r>
              <a:rPr lang="en-CA" sz="1200" dirty="0"/>
              <a:t> </a:t>
            </a:r>
          </a:p>
          <a:p>
            <a:pPr lvl="1"/>
            <a:r>
              <a:rPr lang="en-CA" sz="1200" dirty="0"/>
              <a:t>Contact the relevant research/monitoring group for samples, locations, measurements and photographs. In this case I was wondering if you can direct me to proper POCs.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sz="1200" b="1" dirty="0"/>
              <a:t>Expand event analysis</a:t>
            </a:r>
            <a:r>
              <a:rPr lang="en-CA" sz="1200" dirty="0"/>
              <a:t> </a:t>
            </a:r>
          </a:p>
          <a:p>
            <a:pPr lvl="1"/>
            <a:r>
              <a:rPr lang="en-CA" sz="1200" dirty="0"/>
              <a:t>Apply the workflow to Tay 2021 and Penetang 2022.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sz="1200" b="1" dirty="0"/>
              <a:t>Complete Sentinel-1 SAR analysis</a:t>
            </a:r>
            <a:r>
              <a:rPr lang="en-CA" sz="1200" dirty="0"/>
              <a:t> </a:t>
            </a:r>
          </a:p>
          <a:p>
            <a:pPr lvl="1"/>
            <a:r>
              <a:rPr lang="en-CA" sz="1200" dirty="0"/>
              <a:t>Examine SAR observations together with wind conditions.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sz="1200" b="1" dirty="0"/>
              <a:t>Assess detection limits</a:t>
            </a:r>
            <a:r>
              <a:rPr lang="en-CA" sz="1200" dirty="0"/>
              <a:t> </a:t>
            </a:r>
          </a:p>
          <a:p>
            <a:pPr lvl="1"/>
            <a:r>
              <a:rPr lang="en-CA" sz="1200" dirty="0"/>
              <a:t>Determine when Sentinel-2 can reliably distinguish bloom signals from turbidity, shoreline effects, atmospheric contamination and normal water variability.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B5ECD5-4911-3892-BABF-8488A18056FD}"/>
              </a:ext>
            </a:extLst>
          </p:cNvPr>
          <p:cNvSpPr txBox="1"/>
          <p:nvPr/>
        </p:nvSpPr>
        <p:spPr>
          <a:xfrm>
            <a:off x="415924" y="4676795"/>
            <a:ext cx="11480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/>
              <a:t>Overall Research Question: </a:t>
            </a:r>
            <a:r>
              <a:rPr lang="en-CA" sz="1200" dirty="0"/>
              <a:t>Under what conditions can freely available satellite imagery reliably detect and characterize algal blooms in Severn Sound?</a:t>
            </a:r>
          </a:p>
        </p:txBody>
      </p:sp>
    </p:spTree>
    <p:extLst>
      <p:ext uri="{BB962C8B-B14F-4D97-AF65-F5344CB8AC3E}">
        <p14:creationId xmlns:p14="http://schemas.microsoft.com/office/powerpoint/2010/main" val="3467785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E859B7-BCE6-6FC6-CC3E-E9B31F035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65" y="851848"/>
            <a:ext cx="2323735" cy="2687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DFA57C-5935-E65F-CD30-E7970BA5B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139" y="839272"/>
            <a:ext cx="2297997" cy="26878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C8C83A-C0B1-9146-A749-F4A81551C2D7}"/>
              </a:ext>
            </a:extLst>
          </p:cNvPr>
          <p:cNvSpPr txBox="1"/>
          <p:nvPr/>
        </p:nvSpPr>
        <p:spPr>
          <a:xfrm>
            <a:off x="3218136" y="3791382"/>
            <a:ext cx="1642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NDVI-Biomass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660BD8-00CB-6AA7-5DC5-886172B466C0}"/>
              </a:ext>
            </a:extLst>
          </p:cNvPr>
          <p:cNvSpPr txBox="1"/>
          <p:nvPr/>
        </p:nvSpPr>
        <p:spPr>
          <a:xfrm>
            <a:off x="424706" y="3791382"/>
            <a:ext cx="1957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NCDI-Chlorophyll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E6B13CE-5703-BCA3-769B-FA29614776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839272"/>
            <a:ext cx="2316967" cy="268780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0CE6B80-438F-6F84-7370-65D606242E71}"/>
              </a:ext>
            </a:extLst>
          </p:cNvPr>
          <p:cNvSpPr txBox="1"/>
          <p:nvPr/>
        </p:nvSpPr>
        <p:spPr>
          <a:xfrm>
            <a:off x="6138151" y="3791382"/>
            <a:ext cx="242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err="1"/>
              <a:t>CIcyano-Cynobacteria</a:t>
            </a:r>
            <a:endParaRPr lang="en-CA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6941424-6F81-24A0-E871-B93EA186FC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9188" y="851848"/>
            <a:ext cx="2323735" cy="270038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2194115-DD6D-F561-2216-991A440B9E69}"/>
              </a:ext>
            </a:extLst>
          </p:cNvPr>
          <p:cNvSpPr txBox="1"/>
          <p:nvPr/>
        </p:nvSpPr>
        <p:spPr>
          <a:xfrm>
            <a:off x="9725901" y="3791382"/>
            <a:ext cx="1208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True Color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D1FDFE-F48B-66D5-B53B-29DB776B72E7}"/>
              </a:ext>
            </a:extLst>
          </p:cNvPr>
          <p:cNvSpPr txBox="1"/>
          <p:nvPr/>
        </p:nvSpPr>
        <p:spPr>
          <a:xfrm>
            <a:off x="4039226" y="275488"/>
            <a:ext cx="350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Baltic Sea Algae Bloom, Aug 2015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EB7B137-6EEC-CF3C-0DBD-BF85D92819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4117" y="4908550"/>
            <a:ext cx="1206149" cy="184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743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52F1D8D6-CA89-E50B-8F97-2F73F55E6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7157" y="592637"/>
            <a:ext cx="2942625" cy="2142689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3CD1F74D-B0A0-4EED-8D64-F9689A88A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" y="592638"/>
            <a:ext cx="2957997" cy="215127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40D8117-59B2-DDDD-E9AC-500AAA2089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493" y="3934985"/>
            <a:ext cx="2957997" cy="214526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9E527C6-BCD6-1DA6-0A00-7882FCEBAD98}"/>
              </a:ext>
            </a:extLst>
          </p:cNvPr>
          <p:cNvSpPr txBox="1"/>
          <p:nvPr/>
        </p:nvSpPr>
        <p:spPr>
          <a:xfrm>
            <a:off x="5043911" y="2920961"/>
            <a:ext cx="1642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NDVI-Biomass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D22BDD-93C8-7C33-1850-180CC1678F9D}"/>
              </a:ext>
            </a:extLst>
          </p:cNvPr>
          <p:cNvSpPr txBox="1"/>
          <p:nvPr/>
        </p:nvSpPr>
        <p:spPr>
          <a:xfrm>
            <a:off x="936611" y="2846325"/>
            <a:ext cx="1957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NCDI-Chlorophyll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B513BE-FA05-390A-0AED-71E18560F0D8}"/>
              </a:ext>
            </a:extLst>
          </p:cNvPr>
          <p:cNvSpPr txBox="1"/>
          <p:nvPr/>
        </p:nvSpPr>
        <p:spPr>
          <a:xfrm>
            <a:off x="8556888" y="3024602"/>
            <a:ext cx="242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err="1"/>
              <a:t>CIcyano-Cynobacteria</a:t>
            </a:r>
            <a:endParaRPr lang="en-CA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4F1936-E6F0-F1B8-E725-6363A4C31601}"/>
              </a:ext>
            </a:extLst>
          </p:cNvPr>
          <p:cNvSpPr txBox="1"/>
          <p:nvPr/>
        </p:nvSpPr>
        <p:spPr>
          <a:xfrm>
            <a:off x="1011383" y="6146761"/>
            <a:ext cx="1208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True Color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8F91E9F-2A97-5263-FB2B-286E7790B2A0}"/>
              </a:ext>
            </a:extLst>
          </p:cNvPr>
          <p:cNvSpPr txBox="1"/>
          <p:nvPr/>
        </p:nvSpPr>
        <p:spPr>
          <a:xfrm>
            <a:off x="2894263" y="118065"/>
            <a:ext cx="6314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Georgian Bay Algae Bloom, July-Aug 2022, 5 good day medians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7F1F610-6074-A958-8BCD-70C6BA52A114}"/>
              </a:ext>
            </a:extLst>
          </p:cNvPr>
          <p:cNvGrpSpPr/>
          <p:nvPr/>
        </p:nvGrpSpPr>
        <p:grpSpPr>
          <a:xfrm>
            <a:off x="10461009" y="4844922"/>
            <a:ext cx="1730991" cy="2013078"/>
            <a:chOff x="10461009" y="4844922"/>
            <a:chExt cx="1730991" cy="2013078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5F6E5CD-EB4A-34A9-0000-0473B82A8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61009" y="4844922"/>
              <a:ext cx="1730991" cy="2013078"/>
            </a:xfrm>
            <a:prstGeom prst="rect">
              <a:avLst/>
            </a:prstGeom>
          </p:spPr>
        </p:pic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AEE003D-320C-146F-CBBC-6D4ED68F817B}"/>
                </a:ext>
              </a:extLst>
            </p:cNvPr>
            <p:cNvSpPr/>
            <p:nvPr/>
          </p:nvSpPr>
          <p:spPr>
            <a:xfrm>
              <a:off x="10788650" y="5730811"/>
              <a:ext cx="647700" cy="120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40" name="Oval 39">
            <a:extLst>
              <a:ext uri="{FF2B5EF4-FFF2-40B4-BE49-F238E27FC236}">
                <a16:creationId xmlns:a16="http://schemas.microsoft.com/office/drawing/2014/main" id="{64B8625C-78B6-E68B-768F-F36C1C08B934}"/>
              </a:ext>
            </a:extLst>
          </p:cNvPr>
          <p:cNvSpPr/>
          <p:nvPr/>
        </p:nvSpPr>
        <p:spPr>
          <a:xfrm>
            <a:off x="2520950" y="1828800"/>
            <a:ext cx="1035050" cy="762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noFill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29A24FB-92C1-3A52-34A4-54B3FF7D8B24}"/>
              </a:ext>
            </a:extLst>
          </p:cNvPr>
          <p:cNvSpPr/>
          <p:nvPr/>
        </p:nvSpPr>
        <p:spPr>
          <a:xfrm>
            <a:off x="10121900" y="1828800"/>
            <a:ext cx="1035050" cy="762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noFill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B518F059-B252-3BC9-2E36-1D33B40CFF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6788" y="592636"/>
            <a:ext cx="2957998" cy="2142689"/>
          </a:xfrm>
          <a:prstGeom prst="rect">
            <a:avLst/>
          </a:prstGeom>
        </p:spPr>
      </p:pic>
      <p:sp>
        <p:nvSpPr>
          <p:cNvPr id="42" name="Oval 41">
            <a:extLst>
              <a:ext uri="{FF2B5EF4-FFF2-40B4-BE49-F238E27FC236}">
                <a16:creationId xmlns:a16="http://schemas.microsoft.com/office/drawing/2014/main" id="{2A3D0FAB-6A9C-0061-BEED-0735229C62B1}"/>
              </a:ext>
            </a:extLst>
          </p:cNvPr>
          <p:cNvSpPr/>
          <p:nvPr/>
        </p:nvSpPr>
        <p:spPr>
          <a:xfrm>
            <a:off x="6200896" y="1828798"/>
            <a:ext cx="1035050" cy="762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noFill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E6503A75-E484-7274-C9B9-4DA6D13B46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7993" y="3934985"/>
            <a:ext cx="7154949" cy="2151271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4473D59E-6647-B6DA-3238-F661674F0FA2}"/>
              </a:ext>
            </a:extLst>
          </p:cNvPr>
          <p:cNvSpPr txBox="1"/>
          <p:nvPr/>
        </p:nvSpPr>
        <p:spPr>
          <a:xfrm>
            <a:off x="5043911" y="6182913"/>
            <a:ext cx="1821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Zoomed in NCDI</a:t>
            </a:r>
          </a:p>
        </p:txBody>
      </p:sp>
    </p:spTree>
    <p:extLst>
      <p:ext uri="{BB962C8B-B14F-4D97-AF65-F5344CB8AC3E}">
        <p14:creationId xmlns:p14="http://schemas.microsoft.com/office/powerpoint/2010/main" val="3654184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531</Words>
  <Application>Microsoft Office PowerPoint</Application>
  <PresentationFormat>Widescreen</PresentationFormat>
  <Paragraphs>56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Dabadi, Capt Archan@CDI DIFD / CRD DDFR@Defence365</dc:creator>
  <cp:lastModifiedBy>Dabadi, Capt Archan@CDI DIFD / CRD DDFR@Defence365</cp:lastModifiedBy>
  <cp:revision>4</cp:revision>
  <dcterms:created xsi:type="dcterms:W3CDTF">2026-09-25T14:57:03Z</dcterms:created>
  <dcterms:modified xsi:type="dcterms:W3CDTF">2026-09-25T17:19:09Z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e33c1f9-43dd-4e5b-bd09-632e008e075a_Enabled">
    <vt:lpwstr>true</vt:lpwstr>
  </property>
  <property fmtid="{D5CDD505-2E9C-101B-9397-08002B2CF9AE}" pid="3" name="MSIP_Label_3e33c1f9-43dd-4e5b-bd09-632e008e075a_SetDate">
    <vt:lpwstr>2026-09-25T16:24:46Z</vt:lpwstr>
  </property>
  <property fmtid="{D5CDD505-2E9C-101B-9397-08002B2CF9AE}" pid="4" name="MSIP_Label_3e33c1f9-43dd-4e5b-bd09-632e008e075a_Method">
    <vt:lpwstr>Standard</vt:lpwstr>
  </property>
  <property fmtid="{D5CDD505-2E9C-101B-9397-08002B2CF9AE}" pid="5" name="MSIP_Label_3e33c1f9-43dd-4e5b-bd09-632e008e075a_Name">
    <vt:lpwstr>UNCLASSIFIED INTERNAL</vt:lpwstr>
  </property>
  <property fmtid="{D5CDD505-2E9C-101B-9397-08002B2CF9AE}" pid="6" name="MSIP_Label_3e33c1f9-43dd-4e5b-bd09-632e008e075a_SiteId">
    <vt:lpwstr>325b4494-1587-40d5-bb31-8b660b7f1038</vt:lpwstr>
  </property>
  <property fmtid="{D5CDD505-2E9C-101B-9397-08002B2CF9AE}" pid="7" name="MSIP_Label_3e33c1f9-43dd-4e5b-bd09-632e008e075a_ActionId">
    <vt:lpwstr>2f6c1750-0c8a-4cb0-8769-e2688c151021</vt:lpwstr>
  </property>
  <property fmtid="{D5CDD505-2E9C-101B-9397-08002B2CF9AE}" pid="8" name="MSIP_Label_3e33c1f9-43dd-4e5b-bd09-632e008e075a_ContentBits">
    <vt:lpwstr>0</vt:lpwstr>
  </property>
  <property fmtid="{D5CDD505-2E9C-101B-9397-08002B2CF9AE}" pid="9" name="MSIP_Label_3e33c1f9-43dd-4e5b-bd09-632e008e075a_Tag">
    <vt:lpwstr>10, 3, 0, 1</vt:lpwstr>
  </property>
</Properties>
</file>